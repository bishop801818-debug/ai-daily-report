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法恩莱特撬装工厂战略规划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宁德时代山东、河南基地就近配套项目</a:t>
            </a:r>
          </a:p>
          <a:p>
            <a:r>
              <a:t>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战略机遇验证</a:t>
            </a:r>
          </a:p>
          <a:p>
            <a:pPr>
              <a:spcAft>
                <a:spcPts val="1000"/>
              </a:spcAft>
              <a:defRPr sz="1800"/>
            </a:pPr>
            <a:r>
              <a:t>宁德时代贴厂模式调研</a:t>
            </a:r>
          </a:p>
          <a:p>
            <a:pPr>
              <a:spcAft>
                <a:spcPts val="1000"/>
              </a:spcAft>
              <a:defRPr sz="1800"/>
            </a:pPr>
            <a:r>
              <a:t>山东、河南基地布局</a:t>
            </a:r>
          </a:p>
          <a:p>
            <a:pPr>
              <a:spcAft>
                <a:spcPts val="1000"/>
              </a:spcAft>
              <a:defRPr sz="1800"/>
            </a:pPr>
            <a:r>
              <a:t>战略定位与目标</a:t>
            </a:r>
          </a:p>
          <a:p>
            <a:pPr>
              <a:spcAft>
                <a:spcPts val="1000"/>
              </a:spcAft>
              <a:defRPr sz="1800"/>
            </a:pPr>
            <a:r>
              <a:t>技术方案</a:t>
            </a:r>
          </a:p>
          <a:p>
            <a:pPr>
              <a:spcAft>
                <a:spcPts val="1000"/>
              </a:spcAft>
              <a:defRPr sz="1800"/>
            </a:pPr>
            <a:r>
              <a:t>投资预算与回报</a:t>
            </a:r>
          </a:p>
          <a:p>
            <a:pPr>
              <a:spcAft>
                <a:spcPts val="1000"/>
              </a:spcAft>
              <a:defRPr sz="1800"/>
            </a:pPr>
            <a:r>
              <a:t>实施路径</a:t>
            </a:r>
          </a:p>
          <a:p>
            <a:pPr>
              <a:spcAft>
                <a:spcPts val="1000"/>
              </a:spcAft>
              <a:defRPr sz="1800"/>
            </a:pPr>
            <a:r>
              <a:t>核心竞争优势</a:t>
            </a:r>
          </a:p>
          <a:p>
            <a:pPr>
              <a:spcAft>
                <a:spcPts val="1000"/>
              </a:spcAft>
              <a:defRPr sz="1800"/>
            </a:pPr>
            <a:r>
              <a:t>下一步行动计划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执行摘要 - 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✅ 宁德时代贴厂模式已验证</a:t>
            </a:r>
          </a:p>
          <a:p>
            <a:pPr lvl="1">
              <a:spcAft>
                <a:spcPts val="1000"/>
              </a:spcAft>
              <a:defRPr sz="1800"/>
            </a:pPr>
            <a:r>
              <a:t> 重庆'厂中厂'模式 2025 年 6 月投产</a:t>
            </a:r>
          </a:p>
          <a:p>
            <a:pPr lvl="1">
              <a:spcAft>
                <a:spcPts val="1000"/>
              </a:spcAft>
              <a:defRPr sz="1800"/>
            </a:pPr>
            <a:r>
              <a:t> 电池下线 1 小时内装车</a:t>
            </a:r>
          </a:p>
          <a:p>
            <a:pPr lvl="1">
              <a:spcAft>
                <a:spcPts val="1000"/>
              </a:spcAft>
              <a:defRPr sz="1800"/>
            </a:pPr>
            <a:r>
              <a:t> 供应链响应从数周压缩到分钟级</a:t>
            </a:r>
          </a:p>
          <a:p>
            <a:pPr>
              <a:spcAft>
                <a:spcPts val="1000"/>
              </a:spcAft>
              <a:defRPr sz="1800"/>
            </a:pPr>
            <a:r>
              <a:t>✅ 山东、河南基地真实存在且规模巨大</a:t>
            </a:r>
          </a:p>
          <a:p>
            <a:pPr lvl="1">
              <a:spcAft>
                <a:spcPts val="1000"/>
              </a:spcAft>
              <a:defRPr sz="1800"/>
            </a:pPr>
            <a:r>
              <a:t> 山东济宁：2026 年产能超 100GWh</a:t>
            </a:r>
          </a:p>
          <a:p>
            <a:pPr lvl="1">
              <a:spcAft>
                <a:spcPts val="1000"/>
              </a:spcAft>
              <a:defRPr sz="1800"/>
            </a:pPr>
            <a:r>
              <a:t> 河南洛阳：2026 年产能超 100GWh</a:t>
            </a:r>
          </a:p>
          <a:p>
            <a:pPr>
              <a:spcAft>
                <a:spcPts val="1000"/>
              </a:spcAft>
              <a:defRPr sz="1800"/>
            </a:pPr>
            <a:r>
              <a:t>✅ 电解液需求巨大</a:t>
            </a:r>
          </a:p>
          <a:p>
            <a:pPr lvl="1">
              <a:spcAft>
                <a:spcPts val="1000"/>
              </a:spcAft>
              <a:defRPr sz="1800"/>
            </a:pPr>
            <a:r>
              <a:t> 两大基地年需求 20-24 万吨</a:t>
            </a:r>
          </a:p>
          <a:p>
            <a:pPr lvl="1">
              <a:spcAft>
                <a:spcPts val="1000"/>
              </a:spcAft>
              <a:defRPr sz="1800"/>
            </a:pPr>
            <a:r>
              <a:t> 市场空间 60-96 亿元/年</a:t>
            </a:r>
          </a:p>
          <a:p>
            <a:pPr>
              <a:spcAft>
                <a:spcPts val="1000"/>
              </a:spcAft>
              <a:defRPr sz="1800"/>
            </a:pPr>
            <a:r>
              <a:t>✅ 撬装工厂模式完全可行</a:t>
            </a:r>
          </a:p>
          <a:p>
            <a:pPr lvl="1">
              <a:spcAft>
                <a:spcPts val="1000"/>
              </a:spcAft>
              <a:defRPr sz="1800"/>
            </a:pPr>
            <a:r>
              <a:t> 投资回收期 2-3 年</a:t>
            </a:r>
          </a:p>
          <a:p>
            <a:pPr lvl="1">
              <a:spcAft>
                <a:spcPts val="1000"/>
              </a:spcAft>
              <a:defRPr sz="1800"/>
            </a:pPr>
            <a:r>
              <a:t> 建议立即启动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宁德时代贴厂模式 - 重庆'厂中厂'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项目概况</a:t>
            </a:r>
          </a:p>
          <a:p>
            <a:pPr lvl="1">
              <a:spcAft>
                <a:spcPts val="1000"/>
              </a:spcAft>
              <a:defRPr sz="1800"/>
            </a:pPr>
            <a:r>
              <a:t> 时间：2025 年 6 月 30 日正式投产</a:t>
            </a:r>
          </a:p>
          <a:p>
            <a:pPr lvl="1">
              <a:spcAft>
                <a:spcPts val="1000"/>
              </a:spcAft>
              <a:defRPr sz="1800"/>
            </a:pPr>
            <a:r>
              <a:t> 地点：重庆赛力斯超级工厂内部</a:t>
            </a:r>
          </a:p>
          <a:p>
            <a:pPr lvl="1">
              <a:spcAft>
                <a:spcPts val="1000"/>
              </a:spcAft>
              <a:defRPr sz="1800"/>
            </a:pPr>
            <a:r>
              <a:t> 产能：两条 CTP2.0 高端电池包产线</a:t>
            </a:r>
          </a:p>
          <a:p>
            <a:pPr>
              <a:spcAft>
                <a:spcPts val="1000"/>
              </a:spcAft>
              <a:defRPr sz="1800"/>
            </a:pPr>
            <a:r>
              <a:t>核心数据</a:t>
            </a:r>
          </a:p>
          <a:p>
            <a:pPr lvl="1">
              <a:spcAft>
                <a:spcPts val="1000"/>
              </a:spcAft>
              <a:defRPr sz="1800"/>
            </a:pPr>
            <a:r>
              <a:t> 电池下线后不到 1 小时就能装车</a:t>
            </a:r>
          </a:p>
          <a:p>
            <a:pPr lvl="1">
              <a:spcAft>
                <a:spcPts val="1000"/>
              </a:spcAft>
              <a:defRPr sz="1800"/>
            </a:pPr>
            <a:r>
              <a:t> 从下达指令到产线调整只需不到 20 分钟</a:t>
            </a:r>
          </a:p>
          <a:p>
            <a:pPr lvl="1">
              <a:spcAft>
                <a:spcPts val="1000"/>
              </a:spcAft>
              <a:defRPr sz="1800"/>
            </a:pPr>
            <a:r>
              <a:t> 每天数千个零部件当天周转完毕</a:t>
            </a:r>
          </a:p>
          <a:p>
            <a:pPr lvl="1">
              <a:spcAft>
                <a:spcPts val="1000"/>
              </a:spcAft>
              <a:defRPr sz="1800"/>
            </a:pPr>
            <a:r>
              <a:t> 物流响应周期从数天/数周压缩到分钟级</a:t>
            </a:r>
          </a:p>
          <a:p>
            <a:pPr>
              <a:spcAft>
                <a:spcPts val="1000"/>
              </a:spcAft>
              <a:defRPr sz="1800"/>
            </a:pPr>
            <a:r>
              <a:t>模式特点</a:t>
            </a:r>
          </a:p>
          <a:p>
            <a:pPr lvl="1">
              <a:spcAft>
                <a:spcPts val="1000"/>
              </a:spcAft>
              <a:defRPr sz="1800"/>
            </a:pPr>
            <a:r>
              <a:t> 物理空间融合：供应商车间直接嵌入整车厂内部</a:t>
            </a:r>
          </a:p>
          <a:p>
            <a:pPr lvl="1">
              <a:spcAft>
                <a:spcPts val="1000"/>
              </a:spcAft>
              <a:defRPr sz="1800"/>
            </a:pPr>
            <a:r>
              <a:t> 生产系统协同：共享同一套生产节奏和数据系统</a:t>
            </a:r>
          </a:p>
          <a:p>
            <a:pPr lvl="1">
              <a:spcAft>
                <a:spcPts val="1000"/>
              </a:spcAft>
              <a:defRPr sz="1800"/>
            </a:pPr>
            <a:r>
              <a:t> 零距离供应：取消中间物流环节</a:t>
            </a:r>
          </a:p>
          <a:p>
            <a:pPr lvl="1">
              <a:spcAft>
                <a:spcPts val="1000"/>
              </a:spcAft>
              <a:defRPr sz="1800"/>
            </a:pPr>
            <a:r>
              <a:t> 零时差响应：实时响应生产计划变化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宁德时代山东基地布局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804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详情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山东省济宁市兖州区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投资方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宁德时代全资子公司 - 山东时代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投产时间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2025 年 5 月 17 日一期投产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战略定位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北方首个基地，北方产能规划最大基地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一期产能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60GWh，占地 800 余亩，投资 140 亿元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二期产能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30GWh，2025-2026 年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三期产能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40GWh+，2026 年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总产能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超 100GWh，总占地约 2000 亩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总投资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超 210 亿元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建设标准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灯塔工厂 + 零碳工厂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宁德时代河南基地布局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877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详情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河南省洛阳市伊滨区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开工时间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2022 年 9 月一期开工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一期投产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2024 年 7 月电池包工厂，2025 年 4 月全线投产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二期投产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2025 年 9 月/10 月投产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一期产能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30GWh，占地 850 亩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二期产能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30GWh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三四期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施工中，2026 年投产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总产能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超 100GWh，总占地 3400 亩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总投资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超 300 亿元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产业链配套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26 个上下游项目签约落地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年产值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全部建成后超千亿元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电解液需求测算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基地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2026 年产能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电解液年需求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市场空间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山东济宁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100GWh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10-12 万吨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30-48 亿元/年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河南洛阳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100GWh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10-12 万吨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30-48 亿元/年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200GWh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20-24 万吨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60-96 亿元/年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计算公式：电解液需求（吨）= 电池产能（GWh）× 1000-1200 吨/GWh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战略定位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总体定位</a:t>
            </a:r>
          </a:p>
          <a:p>
            <a:pPr>
              <a:spcAft>
                <a:spcPts val="1000"/>
              </a:spcAft>
              <a:defRPr sz="1800"/>
            </a:pPr>
            <a:r>
              <a:t>成为宁德时代山东、河南基地的核心电解液战略供应商，</a:t>
            </a:r>
          </a:p>
          <a:p>
            <a:pPr>
              <a:spcAft>
                <a:spcPts val="1000"/>
              </a:spcAft>
              <a:defRPr sz="1800"/>
            </a:pPr>
            <a:r>
              <a:t>采用撬装工厂模式实现就近配套、JIT 供应，</a:t>
            </a:r>
          </a:p>
          <a:p>
            <a:pPr>
              <a:spcAft>
                <a:spcPts val="1000"/>
              </a:spcAft>
              <a:defRPr sz="1800"/>
            </a:pPr>
            <a:r>
              <a:t>打造零距离、零时差、零碳排的供应链标杆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核心价值主张 - 四个'零'</a:t>
            </a:r>
          </a:p>
          <a:p>
            <a:pPr lvl="1">
              <a:spcAft>
                <a:spcPts val="1000"/>
              </a:spcAft>
              <a:defRPr sz="1800"/>
            </a:pPr>
            <a:r>
              <a:t> 零距离：撬装工厂部署在宁德时代基地周边 50 公里范围内</a:t>
            </a:r>
          </a:p>
          <a:p>
            <a:pPr lvl="1">
              <a:spcAft>
                <a:spcPts val="1000"/>
              </a:spcAft>
              <a:defRPr sz="1800"/>
            </a:pPr>
            <a:r>
              <a:t> 零时差：管道输送 + 自动化产线，响应时间&lt;2 小时</a:t>
            </a:r>
          </a:p>
          <a:p>
            <a:pPr lvl="1">
              <a:spcAft>
                <a:spcPts val="1000"/>
              </a:spcAft>
              <a:defRPr sz="1800"/>
            </a:pPr>
            <a:r>
              <a:t> 零碳排：配套光伏 + 储能，使用绿电生产</a:t>
            </a:r>
          </a:p>
          <a:p>
            <a:pPr lvl="1">
              <a:spcAft>
                <a:spcPts val="1000"/>
              </a:spcAft>
              <a:defRPr sz="1800"/>
            </a:pPr>
            <a:r>
              <a:t> 零库存：按订单生产，JIT 供应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三大优势</a:t>
            </a:r>
          </a:p>
          <a:p>
            <a:pPr lvl="1">
              <a:spcAft>
                <a:spcPts val="1000"/>
              </a:spcAft>
              <a:defRPr sz="1800"/>
            </a:pPr>
            <a:r>
              <a:t> 轻资产：模块化设计，可快速复制、灵活迁移</a:t>
            </a:r>
          </a:p>
          <a:p>
            <a:pPr lvl="1">
              <a:spcAft>
                <a:spcPts val="1000"/>
              </a:spcAft>
              <a:defRPr sz="1800"/>
            </a:pPr>
            <a:r>
              <a:t> 快响应：建设周期 3-6 个月，远快于传统工厂 2-3 年</a:t>
            </a:r>
          </a:p>
          <a:p>
            <a:pPr lvl="1">
              <a:spcAft>
                <a:spcPts val="1000"/>
              </a:spcAft>
              <a:defRPr sz="1800"/>
            </a:pPr>
            <a:r>
              <a:t> 低成本：投资成本降低 50%，运营成本降低 30%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战略目标体系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短期目标（2026 年）</a:t>
            </a:r>
          </a:p>
          <a:p>
            <a:pPr lvl="1">
              <a:spcAft>
                <a:spcPts val="1000"/>
              </a:spcAft>
              <a:defRPr sz="1800"/>
            </a:pPr>
            <a:r>
              <a:t> 完成 1 座撬装工厂示范项目建设</a:t>
            </a:r>
          </a:p>
          <a:p>
            <a:pPr lvl="1">
              <a:spcAft>
                <a:spcPts val="1000"/>
              </a:spcAft>
              <a:defRPr sz="1800"/>
            </a:pPr>
            <a:r>
              <a:t> 实现 5GWh 配套产能（约 5000 吨/年）</a:t>
            </a:r>
          </a:p>
          <a:p>
            <a:pPr lvl="1">
              <a:spcAft>
                <a:spcPts val="1000"/>
              </a:spcAft>
              <a:defRPr sz="1800"/>
            </a:pPr>
            <a:r>
              <a:t> 通过宁德时代供应商认证</a:t>
            </a:r>
          </a:p>
          <a:p>
            <a:pPr lvl="1">
              <a:spcAft>
                <a:spcPts val="1000"/>
              </a:spcAft>
              <a:defRPr sz="1800"/>
            </a:pPr>
            <a:r>
              <a:t> 示范工厂投资 5000-8000 万元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中期目标（2027-2028 年）</a:t>
            </a:r>
          </a:p>
          <a:p>
            <a:pPr lvl="1">
              <a:spcAft>
                <a:spcPts val="1000"/>
              </a:spcAft>
              <a:defRPr sz="1800"/>
            </a:pPr>
            <a:r>
              <a:t> 在山东济宁、河南洛阳各部署 1 座撬装工厂</a:t>
            </a:r>
          </a:p>
          <a:p>
            <a:pPr lvl="1">
              <a:spcAft>
                <a:spcPts val="1000"/>
              </a:spcAft>
              <a:defRPr sz="1800"/>
            </a:pPr>
            <a:r>
              <a:t> 总产能达到 20GWh 配套（约 2 万吨/年）</a:t>
            </a:r>
          </a:p>
          <a:p>
            <a:pPr lvl="1">
              <a:spcAft>
                <a:spcPts val="1000"/>
              </a:spcAft>
              <a:defRPr sz="1800"/>
            </a:pPr>
            <a:r>
              <a:t> 进入宁德时代核心供应商体系</a:t>
            </a:r>
          </a:p>
          <a:p>
            <a:pPr lvl="1">
              <a:spcAft>
                <a:spcPts val="1000"/>
              </a:spcAft>
              <a:defRPr sz="1800"/>
            </a:pPr>
            <a:r>
              <a:t> 年销售收入达到 15-20 亿元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长期目标（2029-2030 年）</a:t>
            </a:r>
          </a:p>
          <a:p>
            <a:pPr lvl="1">
              <a:spcAft>
                <a:spcPts val="1000"/>
              </a:spcAft>
              <a:defRPr sz="1800"/>
            </a:pPr>
            <a:r>
              <a:t> 部署 4-6 座撬装工厂，覆盖宁德时代全国基地</a:t>
            </a:r>
          </a:p>
          <a:p>
            <a:pPr lvl="1">
              <a:spcAft>
                <a:spcPts val="1000"/>
              </a:spcAft>
              <a:defRPr sz="1800"/>
            </a:pPr>
            <a:r>
              <a:t> 总产能达到 50GWh 配套（约 5 万吨/年）</a:t>
            </a:r>
          </a:p>
          <a:p>
            <a:pPr lvl="1">
              <a:spcAft>
                <a:spcPts val="1000"/>
              </a:spcAft>
              <a:defRPr sz="1800"/>
            </a:pPr>
            <a:r>
              <a:t> 成为宁德时代前三大电解液供应商</a:t>
            </a:r>
          </a:p>
          <a:p>
            <a:pPr lvl="1">
              <a:spcAft>
                <a:spcPts val="1000"/>
              </a:spcAft>
              <a:defRPr sz="1800"/>
            </a:pPr>
            <a:r>
              <a:t> 年销售收入达到 40-50 亿元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撬装工厂设计参数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参数项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传统工厂对比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占地面积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800-1000㎡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传统工厂 1/10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建筑面积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1000-1500㎡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传统工厂 1/8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建设周期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3-6 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传统工厂 1/3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投资规模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5000-8000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传统工厂 1/2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产能规模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5-10GWh 配套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可灵活扩展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人员配置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10-15 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传统工厂 1/5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自动化程度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L4 级（无人化）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行业领先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撬装工厂核心功能模块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模块一：原料储存模块</a:t>
            </a:r>
          </a:p>
          <a:p>
            <a:pPr lvl="1">
              <a:spcAft>
                <a:spcPts val="1000"/>
              </a:spcAft>
              <a:defRPr sz="1800"/>
            </a:pPr>
            <a:r>
              <a:t> NMP 储罐、锂盐储罐、添加剂储罐</a:t>
            </a:r>
          </a:p>
          <a:p>
            <a:pPr lvl="1">
              <a:spcAft>
                <a:spcPts val="1000"/>
              </a:spcAft>
              <a:defRPr sz="1800"/>
            </a:pPr>
            <a:r>
              <a:t> 氮气保护系统、温湿度控制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模块二：配料混合模块</a:t>
            </a:r>
          </a:p>
          <a:p>
            <a:pPr lvl="1">
              <a:spcAft>
                <a:spcPts val="1000"/>
              </a:spcAft>
              <a:defRPr sz="1800"/>
            </a:pPr>
            <a:r>
              <a:t> 高精度计量系统（精度±0.1%）</a:t>
            </a:r>
          </a:p>
          <a:p>
            <a:pPr lvl="1">
              <a:spcAft>
                <a:spcPts val="1000"/>
              </a:spcAft>
              <a:defRPr sz="1800"/>
            </a:pPr>
            <a:r>
              <a:t> 自动配料系统、真空搅拌系统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模块三：过滤灌装模块</a:t>
            </a:r>
          </a:p>
          <a:p>
            <a:pPr lvl="1">
              <a:spcAft>
                <a:spcPts val="1000"/>
              </a:spcAft>
              <a:defRPr sz="1800"/>
            </a:pPr>
            <a:r>
              <a:t> 多级过滤系统（精度 1μm）</a:t>
            </a:r>
          </a:p>
          <a:p>
            <a:pPr lvl="1">
              <a:spcAft>
                <a:spcPts val="1000"/>
              </a:spcAft>
              <a:defRPr sz="1800"/>
            </a:pPr>
            <a:r>
              <a:t> 自动灌装系统、密封检测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模块四：成品仓储模块</a:t>
            </a:r>
          </a:p>
          <a:p>
            <a:pPr lvl="1">
              <a:spcAft>
                <a:spcPts val="1000"/>
              </a:spcAft>
              <a:defRPr sz="1800"/>
            </a:pPr>
            <a:r>
              <a:t> 恒温恒湿仓库、自动立体仓库</a:t>
            </a:r>
          </a:p>
          <a:p>
            <a:pPr lvl="1">
              <a:spcAft>
                <a:spcPts val="1000"/>
              </a:spcAft>
              <a:defRPr sz="1800"/>
            </a:pPr>
            <a:r>
              <a:t> AGV 搬运系统、WMS 管理系统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模块五：管道输送模块（可选）</a:t>
            </a:r>
          </a:p>
          <a:p>
            <a:pPr lvl="1">
              <a:spcAft>
                <a:spcPts val="1000"/>
              </a:spcAft>
              <a:defRPr sz="1800"/>
            </a:pPr>
            <a:r>
              <a:t> 不锈钢管道系统、计量泵组</a:t>
            </a:r>
          </a:p>
          <a:p>
            <a:pPr lvl="1">
              <a:spcAft>
                <a:spcPts val="1000"/>
              </a:spcAft>
              <a:defRPr sz="1800"/>
            </a:pPr>
            <a:r>
              <a:t> 直接输送到宁德时代产线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JIT 供应流程与响应时间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供应流程</a:t>
            </a:r>
          </a:p>
          <a:p>
            <a:pPr>
              <a:spcAft>
                <a:spcPts val="1000"/>
              </a:spcAft>
              <a:defRPr sz="1800"/>
            </a:pPr>
            <a:r>
              <a:t>宁德时代生产计划 → 法恩莱特接收订单 → 自动配料生产 →</a:t>
            </a:r>
          </a:p>
          <a:p>
            <a:pPr>
              <a:spcAft>
                <a:spcPts val="1000"/>
              </a:spcAft>
              <a:defRPr sz="1800"/>
            </a:pPr>
            <a:r>
              <a:t>质量检验 → 管道输送/槽车运输 → 宁德时代产线使用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响应时间指标</a:t>
            </a:r>
          </a:p>
          <a:p>
            <a:pPr lvl="1">
              <a:spcAft>
                <a:spcPts val="1000"/>
              </a:spcAft>
              <a:defRPr sz="1800"/>
            </a:pPr>
            <a:r>
              <a:t> 订单接收：&lt;5 分钟（系统自动接收）</a:t>
            </a:r>
          </a:p>
          <a:p>
            <a:pPr lvl="1">
              <a:spcAft>
                <a:spcPts val="1000"/>
              </a:spcAft>
              <a:defRPr sz="1800"/>
            </a:pPr>
            <a:r>
              <a:t> 生产启动：&lt;30 分钟（自动化产线）</a:t>
            </a:r>
          </a:p>
          <a:p>
            <a:pPr lvl="1">
              <a:spcAft>
                <a:spcPts val="1000"/>
              </a:spcAft>
              <a:defRPr sz="1800"/>
            </a:pPr>
            <a:r>
              <a:t> 质量检验：&lt;30 分钟（在线检测）</a:t>
            </a:r>
          </a:p>
          <a:p>
            <a:pPr lvl="1">
              <a:spcAft>
                <a:spcPts val="1000"/>
              </a:spcAft>
              <a:defRPr sz="1800"/>
            </a:pPr>
            <a:r>
              <a:t> 配送到达：&lt;60 分钟（管道输送/槽车）</a:t>
            </a:r>
          </a:p>
          <a:p>
            <a:pPr lvl="1">
              <a:spcAft>
                <a:spcPts val="1000"/>
              </a:spcAft>
              <a:defRPr sz="1800"/>
            </a:pPr>
            <a:r>
              <a:t> 总响应时间：&lt;2 小时（行业领先）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库存策略</a:t>
            </a:r>
          </a:p>
          <a:p>
            <a:pPr lvl="1">
              <a:spcAft>
                <a:spcPts val="1000"/>
              </a:spcAft>
              <a:defRPr sz="1800"/>
            </a:pPr>
            <a:r>
              <a:t> 原材料库存：7-15 天安全库存</a:t>
            </a:r>
          </a:p>
          <a:p>
            <a:pPr lvl="1">
              <a:spcAft>
                <a:spcPts val="1000"/>
              </a:spcAft>
              <a:defRPr sz="1800"/>
            </a:pPr>
            <a:r>
              <a:t> 成品库存：零库存（按订单生产）</a:t>
            </a:r>
          </a:p>
          <a:p>
            <a:pPr lvl="1">
              <a:spcAft>
                <a:spcPts val="1000"/>
              </a:spcAft>
              <a:defRPr sz="1800"/>
            </a:pPr>
            <a:r>
              <a:t> 宁德时代库存：代管模式，用后结算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单座撬装工厂投资预算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950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金额（万元）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固定资产投资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4200-6050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  - 撬装设备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2500-3500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  - 管道输送系统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300-500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  - 土建工程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500-800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  - 自控系统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300-400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无形资产投资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180-310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  - 设计、安评、环评等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180-310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流动资金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1500-2300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27%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预备费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500-700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总投资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6380-9360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建议取值：8000 万元/座（含 10% 预备费）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投资回报测算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877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单座工厂产能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5-10GWh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配套能力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单 GWh 电解液价值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8000-10000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市场价格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单座工厂年收入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4-10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满产状态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产能利用率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保守估计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实际年收入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3.2-8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年成本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约 4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原材料 70-80%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年毛利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毛利率 20%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年净利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7000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净利率 14%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投资回收期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2-3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保守估计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多工厂规划：2027 年 2 座（1.6 亿），2029-30 年 4-6 座（3.2-4.8 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实施路径 - 四个阶段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阶段一：验证期（2026 年 Q1-Q2）</a:t>
            </a:r>
          </a:p>
          <a:p>
            <a:pPr lvl="1">
              <a:spcAft>
                <a:spcPts val="1000"/>
              </a:spcAft>
              <a:defRPr sz="1800"/>
            </a:pPr>
            <a:r>
              <a:t> 完成撬装工厂设计方案（2 周）</a:t>
            </a:r>
          </a:p>
          <a:p>
            <a:pPr lvl="1">
              <a:spcAft>
                <a:spcPts val="1000"/>
              </a:spcAft>
              <a:defRPr sz="1800"/>
            </a:pPr>
            <a:r>
              <a:t> 与宁德时代对接供应商认证（4 周）</a:t>
            </a:r>
          </a:p>
          <a:p>
            <a:pPr lvl="1">
              <a:spcAft>
                <a:spcPts val="1000"/>
              </a:spcAft>
              <a:defRPr sz="1800"/>
            </a:pPr>
            <a:r>
              <a:t> 选址山东济宁或河南洛阳（2 周）</a:t>
            </a:r>
          </a:p>
          <a:p>
            <a:pPr lvl="1">
              <a:spcAft>
                <a:spcPts val="1000"/>
              </a:spcAft>
              <a:defRPr sz="1800"/>
            </a:pPr>
            <a:r>
              <a:t> 启动示范工厂建设（8 周）</a:t>
            </a:r>
          </a:p>
          <a:p>
            <a:pPr lvl="1">
              <a:spcAft>
                <a:spcPts val="1000"/>
              </a:spcAft>
              <a:defRPr sz="1800"/>
            </a:pPr>
            <a:r>
              <a:t> 里程碑：M6（第 22 周）试生产成功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阶段二：落地期（2026 年 Q3-Q4）</a:t>
            </a:r>
          </a:p>
          <a:p>
            <a:pPr lvl="1">
              <a:spcAft>
                <a:spcPts val="1000"/>
              </a:spcAft>
              <a:defRPr sz="1800"/>
            </a:pPr>
            <a:r>
              <a:t> 通过宁德时代验厂（4 周）</a:t>
            </a:r>
          </a:p>
          <a:p>
            <a:pPr lvl="1">
              <a:spcAft>
                <a:spcPts val="1000"/>
              </a:spcAft>
              <a:defRPr sz="1800"/>
            </a:pPr>
            <a:r>
              <a:t> 小批量供货 0.5-1GWh（8 周）</a:t>
            </a:r>
          </a:p>
          <a:p>
            <a:pPr lvl="1">
              <a:spcAft>
                <a:spcPts val="1000"/>
              </a:spcAft>
              <a:defRPr sz="1800"/>
            </a:pPr>
            <a:r>
              <a:t> 验证 JIT 供应流程</a:t>
            </a:r>
          </a:p>
          <a:p>
            <a:pPr lvl="1">
              <a:spcAft>
                <a:spcPts val="1000"/>
              </a:spcAft>
              <a:defRPr sz="1800"/>
            </a:pPr>
            <a:r>
              <a:t> 里程碑：M10（第 20 周）年度供货目标达成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阶段三：扩张期（2027 年）</a:t>
            </a:r>
          </a:p>
          <a:p>
            <a:pPr lvl="1">
              <a:spcAft>
                <a:spcPts val="1000"/>
              </a:spcAft>
              <a:defRPr sz="1800"/>
            </a:pPr>
            <a:r>
              <a:t> 启动第二座工厂建设（Q1）</a:t>
            </a:r>
          </a:p>
          <a:p>
            <a:pPr lvl="1">
              <a:spcAft>
                <a:spcPts val="1000"/>
              </a:spcAft>
              <a:defRPr sz="1800"/>
            </a:pPr>
            <a:r>
              <a:t> 第二座工厂投产（Q3）</a:t>
            </a:r>
          </a:p>
          <a:p>
            <a:pPr lvl="1">
              <a:spcAft>
                <a:spcPts val="1000"/>
              </a:spcAft>
              <a:defRPr sz="1800"/>
            </a:pPr>
            <a:r>
              <a:t> 产能提升至 10GWh（Q4）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阶段四：全国布局期（2028-2030 年）</a:t>
            </a:r>
          </a:p>
          <a:p>
            <a:pPr lvl="1">
              <a:spcAft>
                <a:spcPts val="1000"/>
              </a:spcAft>
              <a:defRPr sz="1800"/>
            </a:pPr>
            <a:r>
              <a:t> 覆盖宁德时代全国基地</a:t>
            </a:r>
          </a:p>
          <a:p>
            <a:pPr lvl="1">
              <a:spcAft>
                <a:spcPts val="1000"/>
              </a:spcAft>
              <a:defRPr sz="1800"/>
            </a:pPr>
            <a:r>
              <a:t> 产能达到 50GWh</a:t>
            </a:r>
          </a:p>
          <a:p>
            <a:pPr lvl="1">
              <a:spcAft>
                <a:spcPts val="1000"/>
              </a:spcAft>
              <a:defRPr sz="1800"/>
            </a:pPr>
            <a:r>
              <a:t> 拓展海外市场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风险评估与应对策略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风险类别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发生概率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影响程度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应对策略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政策风险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设备租赁模式、合资公司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客户风险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长期协议、拓展其他客户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技术风险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先槽车运输，逐步验证管道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资金风险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引入战投、绿色金融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安全风险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本质安全设计、HSE 体系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环保风险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清洁工艺、完善环保设施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竞争风险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快速占领、技术壁垒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核心竞争优势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优势一：先发优势</a:t>
            </a:r>
          </a:p>
          <a:p>
            <a:pPr lvl="1">
              <a:spcAft>
                <a:spcPts val="1000"/>
              </a:spcAft>
              <a:defRPr sz="1800"/>
            </a:pPr>
            <a:r>
              <a:t> 国内首个电解液撬装工厂</a:t>
            </a:r>
          </a:p>
          <a:p>
            <a:pPr lvl="1">
              <a:spcAft>
                <a:spcPts val="1000"/>
              </a:spcAft>
              <a:defRPr sz="1800"/>
            </a:pPr>
            <a:r>
              <a:t> 建立行业标准，提高进入门槛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优势二：成本优势</a:t>
            </a:r>
          </a:p>
          <a:p>
            <a:pPr lvl="1">
              <a:spcAft>
                <a:spcPts val="1000"/>
              </a:spcAft>
              <a:defRPr sz="1800"/>
            </a:pPr>
            <a:r>
              <a:t> 投资成本降低 50%（0.8 亿 vs 1.5-2 亿）</a:t>
            </a:r>
          </a:p>
          <a:p>
            <a:pPr lvl="1">
              <a:spcAft>
                <a:spcPts val="1000"/>
              </a:spcAft>
              <a:defRPr sz="1800"/>
            </a:pPr>
            <a:r>
              <a:t> 运营成本降低 30%</a:t>
            </a:r>
          </a:p>
          <a:p>
            <a:pPr lvl="1">
              <a:spcAft>
                <a:spcPts val="1000"/>
              </a:spcAft>
              <a:defRPr sz="1800"/>
            </a:pPr>
            <a:r>
              <a:t> 建设周期缩短 60%（3-6 个月 vs 2-3 年）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优势三：响应优势</a:t>
            </a:r>
          </a:p>
          <a:p>
            <a:pPr lvl="1">
              <a:spcAft>
                <a:spcPts val="1000"/>
              </a:spcAft>
              <a:defRPr sz="1800"/>
            </a:pPr>
            <a:r>
              <a:t> 总响应时间&lt;2 小时</a:t>
            </a:r>
          </a:p>
          <a:p>
            <a:pPr lvl="1">
              <a:spcAft>
                <a:spcPts val="1000"/>
              </a:spcAft>
              <a:defRPr sz="1800"/>
            </a:pPr>
            <a:r>
              <a:t> 领先传统供应商 12-24 倍（24-48 小时）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优势四：绿色优势</a:t>
            </a:r>
          </a:p>
          <a:p>
            <a:pPr lvl="1">
              <a:spcAft>
                <a:spcPts val="1000"/>
              </a:spcAft>
              <a:defRPr sz="1800"/>
            </a:pPr>
            <a:r>
              <a:t> 零碳工厂，配套光伏 + 储能</a:t>
            </a:r>
          </a:p>
          <a:p>
            <a:pPr lvl="1">
              <a:spcAft>
                <a:spcPts val="1000"/>
              </a:spcAft>
              <a:defRPr sz="1800"/>
            </a:pPr>
            <a:r>
              <a:t> 符合宁德时代零碳供应链要求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优势五：灵活优势</a:t>
            </a:r>
          </a:p>
          <a:p>
            <a:pPr lvl="1">
              <a:spcAft>
                <a:spcPts val="1000"/>
              </a:spcAft>
              <a:defRPr sz="1800"/>
            </a:pPr>
            <a:r>
              <a:t> 可快速复制（3-6 个月投产）</a:t>
            </a:r>
          </a:p>
          <a:p>
            <a:pPr lvl="1">
              <a:spcAft>
                <a:spcPts val="1000"/>
              </a:spcAft>
              <a:defRPr sz="1800"/>
            </a:pPr>
            <a:r>
              <a:t> 可灵活迁移（撬装设备可移动）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下一步行动计划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立即启动（本周）</a:t>
            </a:r>
          </a:p>
          <a:p>
            <a:pPr lvl="1">
              <a:spcAft>
                <a:spcPts val="1000"/>
              </a:spcAft>
              <a:defRPr sz="1800"/>
            </a:pPr>
            <a:r>
              <a:t> ✅ 成立项目筹备组（3-5 人）</a:t>
            </a:r>
          </a:p>
          <a:p>
            <a:pPr lvl="1">
              <a:spcAft>
                <a:spcPts val="1000"/>
              </a:spcAft>
              <a:defRPr sz="1800"/>
            </a:pPr>
            <a:r>
              <a:t> ✅ 与宁德时代供应链部门建立联系</a:t>
            </a:r>
          </a:p>
          <a:p>
            <a:pPr lvl="1">
              <a:spcAft>
                <a:spcPts val="1000"/>
              </a:spcAft>
              <a:defRPr sz="1800"/>
            </a:pPr>
            <a:r>
              <a:t> ✅ 调研山东济宁、河南洛阳基地周边土地政策</a:t>
            </a:r>
          </a:p>
          <a:p>
            <a:pPr lvl="1">
              <a:spcAft>
                <a:spcPts val="1000"/>
              </a:spcAft>
              <a:defRPr sz="1800"/>
            </a:pPr>
            <a:r>
              <a:t> ✅ 对接撬装设备供应商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 周内完成</a:t>
            </a:r>
          </a:p>
          <a:p>
            <a:pPr lvl="1">
              <a:spcAft>
                <a:spcPts val="1000"/>
              </a:spcAft>
              <a:defRPr sz="1800"/>
            </a:pPr>
            <a:r>
              <a:t> 编制详细商业计划书</a:t>
            </a:r>
          </a:p>
          <a:p>
            <a:pPr lvl="1">
              <a:spcAft>
                <a:spcPts val="1000"/>
              </a:spcAft>
              <a:defRPr sz="1800"/>
            </a:pPr>
            <a:r>
              <a:t> 完成投资可行性分析</a:t>
            </a:r>
          </a:p>
          <a:p>
            <a:pPr lvl="1">
              <a:spcAft>
                <a:spcPts val="1000"/>
              </a:spcAft>
              <a:defRPr sz="1800"/>
            </a:pPr>
            <a:r>
              <a:t> 确定首个示范工厂选址（优先洛阳）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 个月内完成</a:t>
            </a:r>
          </a:p>
          <a:p>
            <a:pPr lvl="1">
              <a:spcAft>
                <a:spcPts val="1000"/>
              </a:spcAft>
              <a:defRPr sz="1800"/>
            </a:pPr>
            <a:r>
              <a:t> 启动供应商认证流程</a:t>
            </a:r>
          </a:p>
          <a:p>
            <a:pPr lvl="1">
              <a:spcAft>
                <a:spcPts val="1000"/>
              </a:spcAft>
              <a:defRPr sz="1800"/>
            </a:pPr>
            <a:r>
              <a:t> 签订土地租赁意向</a:t>
            </a:r>
          </a:p>
          <a:p>
            <a:pPr lvl="1">
              <a:spcAft>
                <a:spcPts val="1000"/>
              </a:spcAft>
              <a:defRPr sz="1800"/>
            </a:pPr>
            <a:r>
              <a:t> 启动设备采购招标</a:t>
            </a:r>
          </a:p>
          <a:p>
            <a:pPr lvl="1">
              <a:spcAft>
                <a:spcPts val="1000"/>
              </a:spcAft>
              <a:defRPr sz="1800"/>
            </a:pPr>
            <a:r>
              <a:t> 组建项目团队（10-15 人）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3-6 个月行动计划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3 个月内完成</a:t>
            </a:r>
          </a:p>
          <a:p>
            <a:pPr lvl="1">
              <a:spcAft>
                <a:spcPts val="1000"/>
              </a:spcAft>
              <a:defRPr sz="1800"/>
            </a:pPr>
            <a:r>
              <a:t> 完成详细设计</a:t>
            </a:r>
          </a:p>
          <a:p>
            <a:pPr lvl="1">
              <a:spcAft>
                <a:spcPts val="1000"/>
              </a:spcAft>
              <a:defRPr sz="1800"/>
            </a:pPr>
            <a:r>
              <a:t> 完成设备采购招标</a:t>
            </a:r>
          </a:p>
          <a:p>
            <a:pPr lvl="1">
              <a:spcAft>
                <a:spcPts val="1000"/>
              </a:spcAft>
              <a:defRPr sz="1800"/>
            </a:pPr>
            <a:r>
              <a:t> 完成土地租赁协议</a:t>
            </a:r>
          </a:p>
          <a:p>
            <a:pPr lvl="1">
              <a:spcAft>
                <a:spcPts val="1000"/>
              </a:spcAft>
              <a:defRPr sz="1800"/>
            </a:pPr>
            <a:r>
              <a:t> 完成安评、环评审批</a:t>
            </a:r>
          </a:p>
          <a:p>
            <a:pPr lvl="1">
              <a:spcAft>
                <a:spcPts val="1000"/>
              </a:spcAft>
              <a:defRPr sz="1800"/>
            </a:pPr>
            <a:r>
              <a:t> 启动工厂建设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6 个月内完成</a:t>
            </a:r>
          </a:p>
          <a:p>
            <a:pPr lvl="1">
              <a:spcAft>
                <a:spcPts val="1000"/>
              </a:spcAft>
              <a:defRPr sz="1800"/>
            </a:pPr>
            <a:r>
              <a:t> 完成工厂建设</a:t>
            </a:r>
          </a:p>
          <a:p>
            <a:pPr lvl="1">
              <a:spcAft>
                <a:spcPts val="1000"/>
              </a:spcAft>
              <a:defRPr sz="1800"/>
            </a:pPr>
            <a:r>
              <a:t> 完成设备安装</a:t>
            </a:r>
          </a:p>
          <a:p>
            <a:pPr lvl="1">
              <a:spcAft>
                <a:spcPts val="1000"/>
              </a:spcAft>
              <a:defRPr sz="1800"/>
            </a:pPr>
            <a:r>
              <a:t> 完成系统调试</a:t>
            </a:r>
          </a:p>
          <a:p>
            <a:pPr lvl="1">
              <a:spcAft>
                <a:spcPts val="1000"/>
              </a:spcAft>
              <a:defRPr sz="1800"/>
            </a:pPr>
            <a:r>
              <a:t> 试生产</a:t>
            </a:r>
          </a:p>
          <a:p>
            <a:pPr lvl="1">
              <a:spcAft>
                <a:spcPts val="1000"/>
              </a:spcAft>
              <a:defRPr sz="1800"/>
            </a:pPr>
            <a:r>
              <a:t> 通过宁德时代验厂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交付物</a:t>
            </a:r>
          </a:p>
          <a:p>
            <a:pPr lvl="1">
              <a:spcAft>
                <a:spcPts val="1000"/>
              </a:spcAft>
              <a:defRPr sz="1800"/>
            </a:pPr>
            <a:r>
              <a:t> 竣工验收报告、设备调试报告</a:t>
            </a:r>
          </a:p>
          <a:p>
            <a:pPr lvl="1">
              <a:spcAft>
                <a:spcPts val="1000"/>
              </a:spcAft>
              <a:defRPr sz="1800"/>
            </a:pPr>
            <a:r>
              <a:t> 试生产报告、验厂通过证书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战略建议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建议一：立即启动</a:t>
            </a:r>
          </a:p>
          <a:p>
            <a:pPr lvl="1">
              <a:spcAft>
                <a:spcPts val="1000"/>
              </a:spcAft>
              <a:defRPr sz="1800"/>
            </a:pPr>
            <a:r>
              <a:t> 时不我待，竞争对手可能也在布局</a:t>
            </a:r>
          </a:p>
          <a:p>
            <a:pPr lvl="1">
              <a:spcAft>
                <a:spcPts val="1000"/>
              </a:spcAft>
              <a:defRPr sz="1800"/>
            </a:pPr>
            <a:r>
              <a:t> 建议本周内成立项目筹备组</a:t>
            </a:r>
          </a:p>
          <a:p>
            <a:pPr lvl="1">
              <a:spcAft>
                <a:spcPts val="1000"/>
              </a:spcAft>
              <a:defRPr sz="1800"/>
            </a:pPr>
            <a:r>
              <a:t> 快速推进，抢占先机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建议二：优先洛阳</a:t>
            </a:r>
          </a:p>
          <a:p>
            <a:pPr lvl="1">
              <a:spcAft>
                <a:spcPts val="1000"/>
              </a:spcAft>
              <a:defRPr sz="1800"/>
            </a:pPr>
            <a:r>
              <a:t> 洛阳基地进展更快（一期已满产）</a:t>
            </a:r>
          </a:p>
          <a:p>
            <a:pPr lvl="1">
              <a:spcAft>
                <a:spcPts val="1000"/>
              </a:spcAft>
              <a:defRPr sz="1800"/>
            </a:pPr>
            <a:r>
              <a:t> 河南政策支持力度大</a:t>
            </a:r>
          </a:p>
          <a:p>
            <a:pPr lvl="1">
              <a:spcAft>
                <a:spcPts val="1000"/>
              </a:spcAft>
              <a:defRPr sz="1800"/>
            </a:pPr>
            <a:r>
              <a:t> 建议首选洛阳建设示范工厂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建议三：轻资产运营</a:t>
            </a:r>
          </a:p>
          <a:p>
            <a:pPr lvl="1">
              <a:spcAft>
                <a:spcPts val="1000"/>
              </a:spcAft>
              <a:defRPr sz="1800"/>
            </a:pPr>
            <a:r>
              <a:t> 采用设备租赁模式</a:t>
            </a:r>
          </a:p>
          <a:p>
            <a:pPr lvl="1">
              <a:spcAft>
                <a:spcPts val="1000"/>
              </a:spcAft>
              <a:defRPr sz="1800"/>
            </a:pPr>
            <a:r>
              <a:t> 土地租赁而非购置</a:t>
            </a:r>
          </a:p>
          <a:p>
            <a:pPr lvl="1">
              <a:spcAft>
                <a:spcPts val="1000"/>
              </a:spcAft>
              <a:defRPr sz="1800"/>
            </a:pPr>
            <a:r>
              <a:t> 降低初始投资，提高资金效率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建议四：技术领先</a:t>
            </a:r>
          </a:p>
          <a:p>
            <a:pPr lvl="1">
              <a:spcAft>
                <a:spcPts val="1000"/>
              </a:spcAft>
              <a:defRPr sz="1800"/>
            </a:pPr>
            <a:r>
              <a:t> 采用最先进自动化技术</a:t>
            </a:r>
          </a:p>
          <a:p>
            <a:pPr lvl="1">
              <a:spcAft>
                <a:spcPts val="1000"/>
              </a:spcAft>
              <a:defRPr sz="1800"/>
            </a:pPr>
            <a:r>
              <a:t> 实现 L4 级无人化操作</a:t>
            </a:r>
          </a:p>
          <a:p>
            <a:pPr lvl="1">
              <a:spcAft>
                <a:spcPts val="1000"/>
              </a:spcAft>
              <a:defRPr sz="1800"/>
            </a:pPr>
            <a:r>
              <a:t> 建立技术壁垒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建议五：合作共赢</a:t>
            </a:r>
          </a:p>
          <a:p>
            <a:pPr lvl="1">
              <a:spcAft>
                <a:spcPts val="1000"/>
              </a:spcAft>
              <a:defRPr sz="1800"/>
            </a:pPr>
            <a:r>
              <a:t> 与宁德时代深度绑定</a:t>
            </a:r>
          </a:p>
          <a:p>
            <a:pPr lvl="1">
              <a:spcAft>
                <a:spcPts val="1000"/>
              </a:spcAft>
              <a:defRPr sz="1800"/>
            </a:pPr>
            <a:r>
              <a:t> 考虑成立合资公司</a:t>
            </a:r>
          </a:p>
          <a:p>
            <a:pPr lvl="1">
              <a:spcAft>
                <a:spcPts val="1000"/>
              </a:spcAft>
              <a:defRPr sz="1800"/>
            </a:pPr>
            <a:r>
              <a:t> 利益共享，风险共担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预期成果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工厂数量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产能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销售收入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短期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2026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 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5GWh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 亿元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2027-28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 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10GWh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 亿元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长期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2029-30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4-6 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20-30GWh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20-30 亿元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资本路径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2028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Pre-IPO 轮融资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2029-30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启动 IPO 或并购重组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关键成功因素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技术因素</a:t>
            </a:r>
          </a:p>
          <a:p>
            <a:pPr lvl="1">
              <a:spcAft>
                <a:spcPts val="1000"/>
              </a:spcAft>
              <a:defRPr sz="1800"/>
            </a:pPr>
            <a:r>
              <a:t> 撬装设备模块化设计</a:t>
            </a:r>
          </a:p>
          <a:p>
            <a:pPr lvl="1">
              <a:spcAft>
                <a:spcPts val="1000"/>
              </a:spcAft>
              <a:defRPr sz="1800"/>
            </a:pPr>
            <a:r>
              <a:t> 自动化控制系统稳定性</a:t>
            </a:r>
          </a:p>
          <a:p>
            <a:pPr lvl="1">
              <a:spcAft>
                <a:spcPts val="1000"/>
              </a:spcAft>
              <a:defRPr sz="1800"/>
            </a:pPr>
            <a:r>
              <a:t> 产品质量一致性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市场因素</a:t>
            </a:r>
          </a:p>
          <a:p>
            <a:pPr lvl="1">
              <a:spcAft>
                <a:spcPts val="1000"/>
              </a:spcAft>
              <a:defRPr sz="1800"/>
            </a:pPr>
            <a:r>
              <a:t> 宁德时代供应商认证进度</a:t>
            </a:r>
          </a:p>
          <a:p>
            <a:pPr lvl="1">
              <a:spcAft>
                <a:spcPts val="1000"/>
              </a:spcAft>
              <a:defRPr sz="1800"/>
            </a:pPr>
            <a:r>
              <a:t> 与宁德时代采购部门关系</a:t>
            </a:r>
          </a:p>
          <a:p>
            <a:pPr lvl="1">
              <a:spcAft>
                <a:spcPts val="1000"/>
              </a:spcAft>
              <a:defRPr sz="1800"/>
            </a:pPr>
            <a:r>
              <a:t> 签订长期供货协议（3-5 年）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政策因素</a:t>
            </a:r>
          </a:p>
          <a:p>
            <a:pPr lvl="1">
              <a:spcAft>
                <a:spcPts val="1000"/>
              </a:spcAft>
              <a:defRPr sz="1800"/>
            </a:pPr>
            <a:r>
              <a:t> 危化品许可政策突破</a:t>
            </a:r>
          </a:p>
          <a:p>
            <a:pPr lvl="1">
              <a:spcAft>
                <a:spcPts val="1000"/>
              </a:spcAft>
              <a:defRPr sz="1800"/>
            </a:pPr>
            <a:r>
              <a:t> 园区准入政策支持</a:t>
            </a:r>
          </a:p>
          <a:p>
            <a:pPr lvl="1">
              <a:spcAft>
                <a:spcPts val="1000"/>
              </a:spcAft>
              <a:defRPr sz="1800"/>
            </a:pPr>
            <a:r>
              <a:t> 环保、安全生产政策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资金因素</a:t>
            </a:r>
          </a:p>
          <a:p>
            <a:pPr lvl="1">
              <a:spcAft>
                <a:spcPts val="1000"/>
              </a:spcAft>
              <a:defRPr sz="1800"/>
            </a:pPr>
            <a:r>
              <a:t> 融资渠道畅通</a:t>
            </a:r>
          </a:p>
          <a:p>
            <a:pPr lvl="1">
              <a:spcAft>
                <a:spcPts val="1000"/>
              </a:spcAft>
              <a:defRPr sz="1800"/>
            </a:pPr>
            <a:r>
              <a:t> 资金成本可控</a:t>
            </a:r>
          </a:p>
          <a:p>
            <a:pPr lvl="1">
              <a:spcAft>
                <a:spcPts val="1000"/>
              </a:spcAft>
              <a:defRPr sz="1800"/>
            </a:pPr>
            <a:r>
              <a:t> 回款周期管理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核心结论</a:t>
            </a:r>
          </a:p>
          <a:p>
            <a:pPr>
              <a:spcAft>
                <a:spcPts val="1000"/>
              </a:spcAft>
              <a:defRPr sz="1800"/>
            </a:pPr>
            <a:r>
              <a:t>  ✅ 模式可行：宁德时代'厂中厂'模式已验证</a:t>
            </a:r>
          </a:p>
          <a:p>
            <a:pPr>
              <a:spcAft>
                <a:spcPts val="1000"/>
              </a:spcAft>
              <a:defRPr sz="1800"/>
            </a:pPr>
            <a:r>
              <a:t>  ✅ 市场巨大：山东、河南基地需求 20-24 万吨/年</a:t>
            </a:r>
          </a:p>
          <a:p>
            <a:pPr>
              <a:spcAft>
                <a:spcPts val="1000"/>
              </a:spcAft>
              <a:defRPr sz="1800"/>
            </a:pPr>
            <a:r>
              <a:t>  ✅ 时机成熟：两大基地 2025-2026 年陆续投产</a:t>
            </a:r>
          </a:p>
          <a:p>
            <a:pPr>
              <a:spcAft>
                <a:spcPts val="1000"/>
              </a:spcAft>
              <a:defRPr sz="1800"/>
            </a:pPr>
            <a:r>
              <a:t>  ✅ 投资可控：单座工厂 8000 万元，回收期 2-3 年</a:t>
            </a:r>
          </a:p>
          <a:p>
            <a:pPr>
              <a:spcAft>
                <a:spcPts val="1000"/>
              </a:spcAft>
              <a:defRPr sz="1800"/>
            </a:pPr>
            <a:r>
              <a:t>  ✅ 优势明显：先发、成本、响应、绿色、灵活五大优势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最终建议</a:t>
            </a:r>
          </a:p>
          <a:p>
            <a:pPr>
              <a:spcAft>
                <a:spcPts val="1000"/>
              </a:spcAft>
              <a:defRPr sz="1800"/>
            </a:pPr>
            <a:r>
              <a:t>  🚀 立即启动项目，本周成立筹备组</a:t>
            </a:r>
          </a:p>
          <a:p>
            <a:pPr>
              <a:spcAft>
                <a:spcPts val="1000"/>
              </a:spcAft>
              <a:defRPr sz="1800"/>
            </a:pPr>
            <a:r>
              <a:t>  🎯 优先布局洛阳，建设示范工厂</a:t>
            </a:r>
          </a:p>
          <a:p>
            <a:pPr>
              <a:spcAft>
                <a:spcPts val="1000"/>
              </a:spcAft>
              <a:defRPr sz="1800"/>
            </a:pPr>
            <a:r>
              <a:t>  💡 采用轻资产运营，快速复制扩张</a:t>
            </a:r>
          </a:p>
          <a:p>
            <a:pPr>
              <a:spcAft>
                <a:spcPts val="1000"/>
              </a:spcAft>
              <a:defRPr sz="1800"/>
            </a:pPr>
            <a:r>
              <a:t>  🏆 打造行业标杆，成为宁德时代核心供应商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法恩莱特撬装工厂战略规划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
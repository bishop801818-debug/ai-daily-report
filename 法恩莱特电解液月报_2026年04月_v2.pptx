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05A3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914400"/>
            <a:ext cx="2743200" cy="2743200"/>
          </a:xfrm>
          <a:prstGeom prst="ellipse">
            <a:avLst/>
          </a:prstGeom>
          <a:solidFill>
            <a:srgbClr val="007D4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114800"/>
            <a:ext cx="2286000" cy="2286000"/>
          </a:xfrm>
          <a:prstGeom prst="ellipse">
            <a:avLst/>
          </a:prstGeom>
          <a:solidFill>
            <a:srgbClr val="007D4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电解液月报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 月度分析报告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法恩莱特事业部 · 战略研究部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每月8日发布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 月度分析报告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56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法恩莱特事业部 | 战略研究部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6556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56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005840"/>
            <a:ext cx="640080" cy="640080"/>
          </a:xfrm>
          <a:prstGeom prst="rect">
            <a:avLst>
              <a:gd name="adj" fmla="val 11429"/>
            </a:avLst>
          </a:prstGeom>
          <a:solidFill>
            <a:srgbClr val="007D4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行业动态与热点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DYNAMICS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005840"/>
            <a:ext cx="640080" cy="640080"/>
          </a:xfrm>
          <a:prstGeom prst="rect">
            <a:avLst>
              <a:gd name="adj" fmla="val 11429"/>
            </a:avLst>
          </a:prstGeom>
          <a:solidFill>
            <a:srgbClr val="007D4F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866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电解液市场分析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ELECTROLYTE MARKET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423160"/>
            <a:ext cx="640080" cy="640080"/>
          </a:xfrm>
          <a:prstGeom prst="rect">
            <a:avLst>
              <a:gd name="adj" fmla="val 11429"/>
            </a:avLst>
          </a:prstGeom>
          <a:solidFill>
            <a:srgbClr val="007D4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添加剂与溶剂价格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ADDITIVES &amp; SOLVENTS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2423160"/>
            <a:ext cx="640080" cy="640080"/>
          </a:xfrm>
          <a:prstGeom prst="rect">
            <a:avLst>
              <a:gd name="adj" fmla="val 11429"/>
            </a:avLst>
          </a:prstGeom>
          <a:solidFill>
            <a:srgbClr val="007D4F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碳酸锂市场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8660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LITHIUM CARBONATE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640080" cy="640080"/>
          </a:xfrm>
          <a:prstGeom prst="rect">
            <a:avLst>
              <a:gd name="adj" fmla="val 11429"/>
            </a:avLst>
          </a:prstGeom>
          <a:solidFill>
            <a:srgbClr val="007D4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六氟磷酸锂市场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5880" y="4206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LITHIUM HEXAFLUOROPHOSPHATE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3840480"/>
            <a:ext cx="640080" cy="640080"/>
          </a:xfrm>
          <a:prstGeom prst="rect">
            <a:avLst>
              <a:gd name="adj" fmla="val 11429"/>
            </a:avLst>
          </a:prstGeom>
          <a:solidFill>
            <a:srgbClr val="007D4F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8660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法恩莱特专题诊断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86600" y="4206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FELT DIAGNOSTIC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257800"/>
            <a:ext cx="640080" cy="640080"/>
          </a:xfrm>
          <a:prstGeom prst="rect">
            <a:avLst>
              <a:gd name="adj" fmla="val 11429"/>
            </a:avLst>
          </a:prstGeom>
          <a:solidFill>
            <a:srgbClr val="007D4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25880" y="5257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专属建议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25880" y="5623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7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DYNAMICS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行业动态与热点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389120"/>
            <a:ext cx="22860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一、行业动态与热点 — 重点企业动态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56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法恩莱特事业部 | 战略研究部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6556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56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685800"/>
            <a:ext cx="54864" cy="1645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685800"/>
            <a:ext cx="530352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7772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月行业重要变化：①天赐材料全资子公司浙江天硕VC产能达1000吨/年，2025年Q1归母净利润16.54亿元（同比+1005%），受益一体化成本优势；②新宙邦2025年营收96.39亿元/+22.84%，六氟磷酸锂自供比例50%-70%；③昊华科技六氟磷酸锂产能扩至9000吨/年，电解液总产能25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685800"/>
            <a:ext cx="54864" cy="1645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685800"/>
            <a:ext cx="530352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7772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天赐材料全资子公司浙江天硕VC（碳酸亚乙烯酯）添加剂产能达1000吨/年。2025年Q1，天赐材料归母净利润16.54亿元，同比暴增1005%，受益于一体化成本优势与行业供需格局反转。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54864" cy="1645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606040"/>
            <a:ext cx="530352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6974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赐材料是全球最大的电解液企业（4月产量79,000吨，遥遥领先第二名新宙邦38,000吨），其一体化布局涵盖六氟磷酸锂、添加剂、溶剂等核心材料，成本优势显著。4月，天赐材料启动年产10000吨LiFSI改扩建项目，一体化布局持续深化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606040"/>
            <a:ext cx="54864" cy="1645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606040"/>
            <a:ext cx="530352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6974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新宙邦2025年全年营收96.39亿元，同比增长22.84%；归母净利润10.97亿元，同比增长16.48%。公司六氟磷酸锂自供比例达50%-70%，电解液业务充分受益于储能需求高增，出口业务表现强劲。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526280"/>
            <a:ext cx="54864" cy="1645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526280"/>
            <a:ext cx="530352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6177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新宙邦在电解液出口市场具有显著优势，2025年海外营收占比持续提升，是国内少数实现国际化布局的电解液企业之一。同时，新宙邦也在积极扩产LiFSI，4月公告启动10000吨LiFSI改扩建项目。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4526280"/>
            <a:ext cx="54864" cy="1645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526280"/>
            <a:ext cx="530352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6177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石大胜华2025年全球电解液溶剂出货量市占率达22%，连续六年保持全球第一。武汉20万吨电解液项目产能持续爬坡，客户覆盖宁德时代、比亚迪等头部电池厂。石大胜华在电解液溶剂领域具有绝对龙头地位，同时向上游延伸至六氟磷酸锂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6446520"/>
            <a:ext cx="54864" cy="1645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6446520"/>
            <a:ext cx="530352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65379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在EVTank发布的全球六氟磷酸锂出货量TOP10榜单中，石大胜华2025年排名跃升，2025年全球六氟磷酸锂出货量TOP10门槛已升至5000吨，行业集中度进一步提升。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7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ELECTROLYTE MARKET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电解液市场分析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389120"/>
            <a:ext cx="22860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二、电解液市场分析 — 供需格局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56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法恩莱特事业部 | 战略研究部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6556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56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685800"/>
            <a:ext cx="11430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格局呈现"三超多强"特征：天赐材料、新宙邦、江苏国泰三家占据主导地位，合计份额约58%；石大胜华、昆仑亿纬、比亚迪等构成第二梯队，年产5-15万吨；法恩莱特、延安必康等构成第三梯队，年产1-5万吨，处于产能爬坡期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114300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089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竞争格局呈现「三超多强」特征：天赐材料、新宙邦、江苏国泰三家占据主导地位，合计份额约58%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657600"/>
            <a:ext cx="11430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值得关注的是，欧盟《新电池法》要求企业建立电池碳足迹声明与回收体系，促使行业向低碳化转型。五矿新能年报指出，政策环境正从国内外两个维度系统性构筑"绿色壁垒"与"创新溢价"，这将对出口型企业提出更高的合规要求。</a:t>
            </a:r>
            <a:endParaRPr lang="en-US" sz="1200" dirty="0"/>
          </a:p>
        </p:txBody>
      </p:sp>
      <p:pic>
        <p:nvPicPr>
          <p:cNvPr id="13" name="Image 0" descr="D:\buddy\skills\lithium-analysis-report\ppt_charts\202604\P2_电解液产量趋势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394960"/>
            <a:ext cx="11430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7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ADDITIVES &amp; SOLVENTS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添加剂与溶剂价格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389120"/>
            <a:ext cx="22860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三、添加剂与溶剂价格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56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法恩莱特事业部 | 战略研究部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6556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56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685800"/>
            <a:ext cx="502920" cy="256032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6858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添加剂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05156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赐材料全资子公司浙江天硕VC产能达1000吨/年，2025年Q1归母净利润暴增1005%，直接验证了添加剂景气周期。海辰药业同步推进安庆汇辰电解液添加剂（硫酸酯类、VC）产能建设，添加剂赛道持续吸引新进入者扩产。</a:t>
            </a:r>
            <a:endParaRPr lang="en-US" sz="1200" dirty="0"/>
          </a:p>
        </p:txBody>
      </p:sp>
      <p:pic>
        <p:nvPicPr>
          <p:cNvPr id="12" name="Image 0" descr="D:\buddy\skills\lithium-analysis-report\ppt_charts\202604\P3_添加剂价格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337560"/>
            <a:ext cx="5486400" cy="29260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035040" y="685800"/>
            <a:ext cx="502920" cy="256032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6858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溶剂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35040" y="105156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期看，LiFSI（双氟磺酰亚胺锂）作为新一代高性能添加剂，添加比例持续提升。国金证券指出，六氟磷酸锂价格倒挂缓解背景下，LiFSI相对性价比凸显，添加比例有望持续提升。天赐材料、新宙邦均已启动10000吨LiFSI改扩建项目，法恩莱特LiFSI产线布局已刻不容缓。</a:t>
            </a:r>
            <a:endParaRPr lang="en-US" sz="1200" dirty="0"/>
          </a:p>
        </p:txBody>
      </p:sp>
      <p:pic>
        <p:nvPicPr>
          <p:cNvPr id="16" name="Image 1" descr="D:\buddy\skills\lithium-analysis-report\ppt_charts\202604\P4_溶剂价格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337560"/>
            <a:ext cx="54864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7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LITHIUM CARBONATE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碳酸锂市场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389120"/>
            <a:ext cx="22860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四、碳酸锂市场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56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法恩莱特事业部 | 战略研究部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6556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56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685800"/>
            <a:ext cx="11430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从长周期看，碳酸锂价格已从2022年峰值超50万元/吨回落逾60%，当前16-17万元/吨的价格已处于大部分云母提锂和盐湖提锂企业的成本线附近，部分高成本产能已停产，供给侧出清加速。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502920" cy="256032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2004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成本传导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566160"/>
            <a:ext cx="11430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月碳酸锂从15.0万元/吨涨至16.9万元/吨（+1.9万元/吨），理论推动六氟磷酸锂成本约+10.6万元/吨，推动电解液成本约+3.2万元/吨。在电解液售价约2.8万/吨（磷酸铁锂规格）背景下，成本传导时滞叠加DMC溶剂压价，电解液企业4月盈利承压。</a:t>
            </a:r>
            <a:endParaRPr lang="en-US" sz="1200" dirty="0"/>
          </a:p>
        </p:txBody>
      </p:sp>
      <p:pic>
        <p:nvPicPr>
          <p:cNvPr id="13" name="Image 0" descr="D:\buddy\skills\lithium-analysis-report\ppt_charts\202604\P5_碳酸锂价格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394960"/>
            <a:ext cx="11430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7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LITHIUM HEXAFLUOROPHOSPHATE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六氟磷酸锂市场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389120"/>
            <a:ext cx="22860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五、六氟磷酸锂市场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56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法恩莱特事业部 | 战略研究部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6556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56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685800"/>
            <a:ext cx="11430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值得关注的是，昊华科技六氟磷酸锂产能扩至9000吨/年（已超过行业月产量），多氟多现有产能6.5万吨/年，天赐材料产能持续扩张，头部企业六氟磷酸锂产能集中度持续提升。EVTank数据显示，2025年全球六氟磷酸锂出货量TOP10门槛升至5000吨，行业集中度进一步提升。</a:t>
            </a:r>
            <a:endParaRPr lang="en-US" sz="1200" dirty="0"/>
          </a:p>
        </p:txBody>
      </p:sp>
      <p:pic>
        <p:nvPicPr>
          <p:cNvPr id="10" name="Image 0" descr="D:\buddy\skills\lithium-analysis-report\ppt_charts\202604\P6_六氟产量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606040"/>
            <a:ext cx="11430000" cy="3200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5897880"/>
            <a:ext cx="502920" cy="256032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58978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价格走势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6263640"/>
            <a:ext cx="11430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多氟多5月15日强势涨停，Q1净利润3.76亿元（同比+480.14%），主因六氟磷酸锂景气回升与电池业务产能放量，氢氟酸产品直供台积电、三星、中芯国际等全球半导体巨头，彰显其在氟化工领域的绝对龙头地位。</a:t>
            </a:r>
            <a:endParaRPr lang="en-US" sz="1200" dirty="0"/>
          </a:p>
        </p:txBody>
      </p:sp>
      <p:pic>
        <p:nvPicPr>
          <p:cNvPr id="14" name="Image 1" descr="D:\buddy\skills\lithium-analysis-report\ppt_charts\202604\P7_六氟价格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138160"/>
            <a:ext cx="11430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7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FELT DIAGNOSTIC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法恩莱特专题诊断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389120"/>
            <a:ext cx="22860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六、法恩莱特专题诊断 — 经营速览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56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法恩莱特事业部 | 战略研究部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6556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56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2026年04月法恩莱特整体经营呈现"增收增亏"特征：销量4,115吨（完成率53%），营收9,758万，毛利率-3.2%，净利润-549万。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2743200" cy="21945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325880"/>
            <a:ext cx="2743200" cy="7315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4,115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1460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880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预算7,795吨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325880"/>
            <a:ext cx="2743200" cy="21945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325880"/>
            <a:ext cx="2743200" cy="73152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营收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9,758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39496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D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2880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人民币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325880"/>
            <a:ext cx="2743200" cy="21945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325880"/>
            <a:ext cx="274320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毛利率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-3.2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90956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2880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06840" y="1325880"/>
            <a:ext cx="2743200" cy="21945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0" y="1325880"/>
            <a:ext cx="274320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净利润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-549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078992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0" y="2880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预算0万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703320"/>
            <a:ext cx="2743200" cy="21945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70332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经营现金流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4206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+3,576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2514600" y="4480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2920" y="5257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预算0万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46120" y="3703320"/>
            <a:ext cx="2743200" cy="21945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46120" y="3703320"/>
            <a:ext cx="2743200" cy="7315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2" name="Text 40"/>
          <p:cNvSpPr/>
          <p:nvPr/>
        </p:nvSpPr>
        <p:spPr>
          <a:xfrm>
            <a:off x="3383280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回款天数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83280" y="4206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5029200" y="4480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383280" y="5257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应收账款周转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3703320"/>
            <a:ext cx="2743200" cy="21945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3703320"/>
            <a:ext cx="274320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8" name="Text 46"/>
          <p:cNvSpPr/>
          <p:nvPr/>
        </p:nvSpPr>
        <p:spPr>
          <a:xfrm>
            <a:off x="6263640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期货亏损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63640" y="4206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7909560" y="4480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263640" y="5257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本年累计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006840" y="3703320"/>
            <a:ext cx="2743200" cy="21945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06840" y="3703320"/>
            <a:ext cx="2743200" cy="73152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54" name="Text 52"/>
          <p:cNvSpPr/>
          <p:nvPr/>
        </p:nvSpPr>
        <p:spPr>
          <a:xfrm>
            <a:off x="9144000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四费率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144000" y="4206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800" dirty="0"/>
          </a:p>
        </p:txBody>
      </p:sp>
      <p:sp>
        <p:nvSpPr>
          <p:cNvPr id="56" name="Text 54"/>
          <p:cNvSpPr/>
          <p:nvPr/>
        </p:nvSpPr>
        <p:spPr>
          <a:xfrm>
            <a:off x="10789920" y="4480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8F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%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9144000" y="5257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费用占营收比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六、法恩莱特专题诊断 — 三基地横向对比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56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法恩莱特事业部 | 战略研究部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6556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56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27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85800"/>
          <a:ext cx="11430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188720"/>
                <a:gridCol w="1463040"/>
                <a:gridCol w="1097280"/>
                <a:gridCol w="1371600"/>
                <a:gridCol w="118872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营收（万）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毛利率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边际利润（万）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边际率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净利润（万）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四费率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经营现金流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法恩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9,758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-3.2%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-549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-5.6%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-549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2.9%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湖南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10,016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-5.3%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-2,527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-25.2%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-2,527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+6,141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安徽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12,349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-0.8%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-242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-2.0%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-242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-1,574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广西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8,527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6.4%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+341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341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+944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3657600"/>
            <a:ext cx="54864" cy="45720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广西基地唯一盈利：净利润+341万，毛利率+6.4%，经验可复制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4389120"/>
            <a:ext cx="54864" cy="45720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湖南基地亏损最重：净利润-2,527万，净利润率-25%，需专项整改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5120640"/>
            <a:ext cx="54864" cy="45720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法恩总部毛亏310万，但边际利润178万（边际率1.8%）证明主业有生存空间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六、法恩莱特专题诊断 — 主要客户贡献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56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法恩莱特事业部 | 战略研究部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6556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56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27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85800"/>
          <a:ext cx="11430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164592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客户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销量（吨）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营收（万）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毛利额（万）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毛利率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预算完成率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多氟多能源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2,667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宁德时代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640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2,090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吉曜通行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797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1,859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瑞浦能源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831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厦门海辰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374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828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双登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312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鹏辉能源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3840480"/>
            <a:ext cx="54864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多氟多（+2,667万）超预算完成，毛利率0.1%虽薄但量大利稳，是最重要战略客户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4572000"/>
            <a:ext cx="54864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宁德时代（640吨）和吉曜通行（797吨）是营收主力，但均以亏损价格接单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5303520"/>
            <a:ext cx="54864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头部客户全部亏损，定价策略存在严重问题——以亏损价格接单导致量越大亏越多</a:t>
            </a:r>
            <a:endParaRPr lang="en-US" sz="1200" dirty="0"/>
          </a:p>
        </p:txBody>
      </p:sp>
      <p:pic>
        <p:nvPicPr>
          <p:cNvPr id="16" name="Image 0" descr="D:\buddy\skills\lithium-analysis-report\ppt_charts\202604\P8_客户贡献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685800"/>
            <a:ext cx="45720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六、法恩莱特专题诊断 — 六维综合诊断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56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法恩莱特事业部 | 战略研究部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6556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56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D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六维综合诊断得分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销量完成率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10972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170432"/>
            <a:ext cx="4114800" cy="20116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0" y="1170432"/>
            <a:ext cx="2180844" cy="201168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097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F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价格控制力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1874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1947672"/>
            <a:ext cx="4114800" cy="20116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0" y="1947672"/>
            <a:ext cx="1234440" cy="20116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874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毛利率水平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2651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2724912"/>
            <a:ext cx="4114800" cy="20116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2724912"/>
            <a:ext cx="0" cy="20116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2651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费用管控能力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34290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0" y="3502152"/>
            <a:ext cx="4114800" cy="20116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0" y="3502152"/>
            <a:ext cx="3168396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3429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良好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经营现金流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94560" y="4206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0" y="4279392"/>
            <a:ext cx="4114800" cy="20116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Shape 31"/>
          <p:cNvSpPr/>
          <p:nvPr/>
        </p:nvSpPr>
        <p:spPr>
          <a:xfrm>
            <a:off x="2743200" y="4279392"/>
            <a:ext cx="4073652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4206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良好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983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应收账款回款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94560" y="4983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0" y="5056632"/>
            <a:ext cx="4114800" cy="20116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8" name="Shape 36"/>
          <p:cNvSpPr/>
          <p:nvPr/>
        </p:nvSpPr>
        <p:spPr>
          <a:xfrm>
            <a:off x="2743200" y="5056632"/>
            <a:ext cx="2551176" cy="201168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9" name="Text 37"/>
          <p:cNvSpPr/>
          <p:nvPr/>
        </p:nvSpPr>
        <p:spPr>
          <a:xfrm>
            <a:off x="7040880" y="4983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F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0" y="640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D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六维雷达图</a:t>
            </a:r>
            <a:endParaRPr lang="en-US" sz="1400" dirty="0"/>
          </a:p>
        </p:txBody>
      </p:sp>
      <p:pic>
        <p:nvPicPr>
          <p:cNvPr id="41" name="Image 0" descr="D:\buddy\skills\lithium-analysis-report\ppt_charts\202604\P9_雷达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05840"/>
            <a:ext cx="4114800" cy="4389120"/>
          </a:xfrm>
          <a:prstGeom prst="rect">
            <a:avLst/>
          </a:prstGeom>
        </p:spPr>
      </p:pic>
      <p:sp>
        <p:nvSpPr>
          <p:cNvPr id="42" name="Shape 39"/>
          <p:cNvSpPr/>
          <p:nvPr/>
        </p:nvSpPr>
        <p:spPr>
          <a:xfrm>
            <a:off x="365760" y="5943600"/>
            <a:ext cx="114300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3" name="Text 40"/>
          <p:cNvSpPr/>
          <p:nvPr/>
        </p:nvSpPr>
        <p:spPr>
          <a:xfrm>
            <a:off x="502920" y="59436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综合评分 54分 | 最差维度：「价格控制」「毛利水平」 | 最优维度：「现金流」「费用控制」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六、法恩莱特专题诊断 — 问题诊断与积极因素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56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法恩莱特事业部 | 战略研究部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6556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56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640080"/>
            <a:ext cx="5486400" cy="5394960"/>
          </a:xfrm>
          <a:prstGeom prst="rect">
            <a:avLst/>
          </a:prstGeom>
          <a:solidFill>
            <a:srgbClr val="FFF5F5"/>
          </a:solidFill>
          <a:ln w="6350">
            <a:solidFill>
              <a:srgbClr val="FFC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731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问题诊断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234440"/>
            <a:ext cx="320040" cy="320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234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销量仅完成预算53%（4,115吨/预算7,795吨），鹏辉完成率17%，赣锋0%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158191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销量仅完成预算53%（4,115吨/预算7,795吨），鹏辉完成率17%，赣锋0%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240280"/>
            <a:ext cx="320040" cy="320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240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毛利率-3.2%（预算4.8%），原材料较报价亏损165.7万（六氟亏损333.8万为主因）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8775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毛利率-3.2%（预算4.8%），原材料较报价亏损165.7万（六氟亏损333.8万为主因）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246120"/>
            <a:ext cx="320040" cy="320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246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净利润-549万（预算443万），本年累计-2,427万（其中期货亏损1,220万）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9359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净利润-549万（预算443万），本年累计-2,427万（其中期货亏损1,220万）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251960"/>
            <a:ext cx="320040" cy="320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251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251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宁德时代亏毛利156.8万（原材料差价亏损60.3万+加工费亏损96.5万）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59943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宁德时代亏毛利156.8万（原材料差价亏损60.3万+加工费亏损96.5万）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5257800"/>
            <a:ext cx="320040" cy="320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5257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5257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应收款天数96天（预算90天），到期回款压力持续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560527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应收款天数96天（预算90天），到期回款压力持续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640080"/>
            <a:ext cx="5943600" cy="5394960"/>
          </a:xfrm>
          <a:prstGeom prst="rect">
            <a:avLst/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积极因素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72200" y="1234440"/>
            <a:ext cx="320040" cy="320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4" name="Text 32"/>
          <p:cNvSpPr/>
          <p:nvPr/>
        </p:nvSpPr>
        <p:spPr>
          <a:xfrm>
            <a:off x="617220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0" y="1234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多氟多超预算153%完成（预算480吨→实际完成253%），收入2,667万，同比+718%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83680" y="158191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多氟多超预算153%完成（预算480吨→实际完成253%），收入2,667万，同比+718%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2240280"/>
            <a:ext cx="320040" cy="320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8" name="Text 36"/>
          <p:cNvSpPr/>
          <p:nvPr/>
        </p:nvSpPr>
        <p:spPr>
          <a:xfrm>
            <a:off x="617220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83680" y="22402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经营现金流3,576万（预算461万），超预算775%，现金流健康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83680" y="258775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经营现金流3,576万（预算461万），超预算775%，现金流健康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72200" y="3246120"/>
            <a:ext cx="320040" cy="320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2" name="Text 40"/>
          <p:cNvSpPr/>
          <p:nvPr/>
        </p:nvSpPr>
        <p:spPr>
          <a:xfrm>
            <a:off x="617220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83680" y="32461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4月销量环比+43%（3月2,879吨→4月4,115吨），需求边际改善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83680" y="359359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4月销量环比+43%（3月2,879吨→4月4,115吨），需求边际改善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72200" y="4251960"/>
            <a:ext cx="320040" cy="320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6" name="Text 44"/>
          <p:cNvSpPr/>
          <p:nvPr/>
        </p:nvSpPr>
        <p:spPr>
          <a:xfrm>
            <a:off x="6172200" y="4251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83680" y="42519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广西基地毛利率+6.4%，是唯一盈利基地，边际贡献稳定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583680" y="459943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广西基地毛利率+6.4%，是唯一盈利基地，边际贡献稳定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72200" y="5257800"/>
            <a:ext cx="320040" cy="320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0" name="Text 48"/>
          <p:cNvSpPr/>
          <p:nvPr/>
        </p:nvSpPr>
        <p:spPr>
          <a:xfrm>
            <a:off x="6172200" y="5257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583680" y="5257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采购端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83680" y="560527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六氟均价10.51万/吨，低于当前市场报价，锁价优势尚存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7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专属建议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389120"/>
            <a:ext cx="22860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七、专属建议 — 机会与风险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56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法恩莱特事业部 | 战略研究部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6556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56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风险识别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097280"/>
            <a:ext cx="54864" cy="10972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097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417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销量仅完成预算53%（4,115吨/预算7,795吨），鹏辉完成率17%，赣锋0%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7373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销量仅完成预算53%（4,115吨/预算7,795吨），鹏辉完成率17%，赣锋0%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54864" cy="10972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377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697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毛利率-3.2%（预算4.8%），原材料较报价亏损165.7万（六氟亏损333.8万为主因）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017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毛利率-3.2%（预算4.8%），原材料较报价亏损165.7万（六氟亏损333.8万为主因）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54864" cy="10972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657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净利润-549万（预算443万），本年累计-2,427万（其中期货亏损1,220万）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净利润-549万（预算443万），本年累计-2,427万（其中期货亏损1,220万）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937760"/>
            <a:ext cx="54864" cy="10972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937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257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宁德时代亏毛利156.8万（原材料差价亏损60.3万+加工费亏损96.5万）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577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宁德时代亏毛利156.8万（原材料差价亏损60.3万+加工费亏损96.5万）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350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战略机会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35040" y="1097280"/>
            <a:ext cx="54864" cy="10972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1097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机会1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多氟多超预算153%完成（预算480吨→实际完成253%），收入2,667万，同比+718%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17373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多氟多超预算153%完成（预算480吨→实际完成253%），收入2,667万，同比+718%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2377440"/>
            <a:ext cx="54864" cy="10972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2377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机会2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2697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经营现金流3,576万（预算461万），超预算775%，现金流健康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3017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经营现金流3,576万（预算461万），超预算775%，现金流健康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3657600"/>
            <a:ext cx="54864" cy="10972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3657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机会3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17920" y="3977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4月销量环比+43%（3月2,879吨→4月4,115吨），需求边际改善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4297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4月销量环比+43%（3月2,879吨→4月4,115吨），需求边际改善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35040" y="4937760"/>
            <a:ext cx="54864" cy="10972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4937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机会4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17920" y="5257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广西基地毛利率+6.4%，是唯一盈利基地，边际贡献稳定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7920" y="5577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广西基地毛利率+6.4%，是唯一盈利基地，边际贡献稳定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七、专属建议 — 行动建议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56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法恩莱特事业部 | 战略研究部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6556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56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658368"/>
            <a:ext cx="54864" cy="8229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658368"/>
            <a:ext cx="11247120" cy="8686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704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本周内（紧急）🔴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978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止损期货持仓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749808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当前期货累计亏损1,220万，建议平仓现有期货合约止损控制亏损，重新制定套保规则——套保比例不超过采购量60%，设置价格上限保护。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618488"/>
            <a:ext cx="54864" cy="8229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618488"/>
            <a:ext cx="11247120" cy="8686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1664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本周内（紧急）🔴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1938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重新谈判宁德时代报价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1709928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宁德时代4月亏毛利156.8万，是最大亏损来源。基于六氟涨价，电解液报价应上调3%-5%。若宁德拒绝，优先保障多氟多等盈利客户供货。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578608"/>
            <a:ext cx="54864" cy="82296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578608"/>
            <a:ext cx="11247120" cy="8686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624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D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本月内（高优先级）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2898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湖南基地专项整改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2670048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成立湖南基地降本专项小组，目标是6月净利润率改善至-10%以内。重点：分析费用构成、重新评估定价策略、优化采购渠道。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38728"/>
            <a:ext cx="54864" cy="82296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538728"/>
            <a:ext cx="11247120" cy="8686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584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D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本月内（高优先级）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建立原料成本-产品报价联动机制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0" y="3630168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每笔订单接单前必须计算毛利率是否≥0%。毛利率为负的订单原则上不接，除非有明确战略理由。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498848"/>
            <a:ext cx="54864" cy="82296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4498848"/>
            <a:ext cx="11247120" cy="8686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544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D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本月内（高优先级）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加大吉曜通行供货量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389120" y="4590288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吉曜通行4月完成率125%，同比+250%，是当前最健康客户。重点维护；同时开拓双登/海四达增量订单。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5458968"/>
            <a:ext cx="54864" cy="822960"/>
          </a:xfrm>
          <a:prstGeom prst="rect">
            <a:avLst/>
          </a:prstGeom>
          <a:solidFill>
            <a:srgbClr val="007D4F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5458968"/>
            <a:ext cx="11247120" cy="8686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55046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D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本季内（中优先级）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" y="5779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复制广西基地经验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389120" y="5550408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深度复盘广西毛利率+6.4%的核心原因：客户结构、定价策略、采购成本。将广西经验形成SOP，推广至安徽/湖南基地。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7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5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核心结论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200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D4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核心问题在于定价策略失当——宁德时代/吉曜/鹏辉等大客户均以亏损价格接单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3200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D4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积极信号：现金流健康（+3,576万），多氟多超预算153%，广西基地盈利（+341万）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3200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D4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886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5月六氟磷酸锂跳涨至12万/吨（+18.75%），若调价顺利传导+期货策略修复，Q3有望实现盈亏平衡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3200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983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D4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983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广西基地毛利率+6.4%经验可复制，推广至安徽/湖南基地有望改善整体盈利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法恩莱特事业部 | 战略研究部 | 2026年04月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5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法恩莱特事业部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战略研究部 · 每月8日发布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2026年04月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法恩莱特事业部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法恩莱特电解液月报 2026年04月</dc:title>
  <dc:subject>PptxGenJS Presentation</dc:subject>
  <dc:creator>法恩莱特战略研究部</dc:creator>
  <cp:lastModifiedBy>法恩莱特战略研究部</cp:lastModifiedBy>
  <cp:revision>1</cp:revision>
  <dcterms:created xsi:type="dcterms:W3CDTF">2026-06-08T08:41:11Z</dcterms:created>
  <dcterms:modified xsi:type="dcterms:W3CDTF">2026-06-08T08:41:11Z</dcterms:modified>
</cp:coreProperties>
</file>